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2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052560" y="182880"/>
            <a:ext cx="2468880" cy="2468880"/>
          </a:xfrm>
          <a:prstGeom prst="roundRect">
            <a:avLst/>
          </a:prstGeom>
          <a:solidFill>
            <a:srgbClr val="4AB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784080" y="4480560"/>
            <a:ext cx="1920240" cy="1737360"/>
          </a:xfrm>
          <a:prstGeom prst="roundRect">
            <a:avLst/>
          </a:prstGeom>
          <a:solidFill>
            <a:srgbClr val="6E4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621792"/>
            <a:ext cx="2423160" cy="310896"/>
          </a:xfrm>
          <a:prstGeom prst="roundRect">
            <a:avLst/>
          </a:prstGeom>
          <a:solidFill>
            <a:srgbClr val="305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26364"/>
            <a:ext cx="242316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BIT N BUILD’26 • GUJARAT 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61872"/>
            <a:ext cx="758952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ptos"/>
              </a:rPr>
              <a:t>SmartEve
AI Assist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907792"/>
            <a:ext cx="70408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CBD6EB"/>
                </a:solidFill>
                <a:latin typeface="Aptos"/>
              </a:rPr>
              <a:t>Smart Anchor &amp; Stage Flow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416052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4ABEF5"/>
                </a:solidFill>
                <a:latin typeface="Aptos"/>
              </a:rPr>
              <a:t>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4416552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tos"/>
              </a:rPr>
              <a:t>BliXo.tech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4160520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4ABEF5"/>
                </a:solidFill>
                <a:latin typeface="Aptos"/>
              </a:rPr>
              <a:t>Team Leader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19" y="4416552"/>
            <a:ext cx="306154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 dirty="0">
                <a:solidFill>
                  <a:srgbClr val="FFFFFF"/>
                </a:solidFill>
                <a:latin typeface="Aptos"/>
              </a:rPr>
              <a:t>Rana Chirag Ashokkumar</a:t>
            </a:r>
            <a:endParaRPr sz="18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652760" y="614476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1417320"/>
            <a:ext cx="2423160" cy="2423160"/>
          </a:xfrm>
          <a:prstGeom prst="roundRect">
            <a:avLst/>
          </a:prstGeom>
          <a:solidFill>
            <a:srgbClr val="1C2844"/>
          </a:solidFill>
          <a:ln w="19050">
            <a:solidFill>
              <a:srgbClr val="50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823960" y="1783080"/>
            <a:ext cx="1691640" cy="1691640"/>
          </a:xfrm>
          <a:prstGeom prst="roundRect">
            <a:avLst/>
          </a:prstGeom>
          <a:solidFill>
            <a:srgbClr val="121C34"/>
          </a:solidFill>
          <a:ln w="19050">
            <a:solidFill>
              <a:srgbClr val="4AB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58200" y="4005072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AAB9D3"/>
                </a:solidFill>
                <a:latin typeface="Aptos"/>
              </a:rPr>
              <a:t>PLACE APP ICON HERE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D7335E7-AE78-A490-5F62-570D3F70F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993" y="2002366"/>
            <a:ext cx="1327573" cy="11063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05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305BDC"/>
                </a:solidFill>
                <a:latin typeface="Aptos"/>
              </a:rPr>
              <a:t>02  / 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C263A"/>
                </a:solidFill>
                <a:latin typeface="Aptos"/>
              </a:rPr>
              <a:t>The event floor is still too manual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7748B"/>
                </a:solidFill>
                <a:latin typeface="Aptos"/>
              </a:rPr>
              <a:t>Anchors and organizers manage timing, speakers, transitions and audience engagement at the same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3657600" cy="3566160"/>
          </a:xfrm>
          <a:prstGeom prst="roundRect">
            <a:avLst/>
          </a:prstGeom>
          <a:solidFill>
            <a:srgbClr val="12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2176272"/>
            <a:ext cx="914400" cy="310896"/>
          </a:xfrm>
          <a:prstGeom prst="roundRect">
            <a:avLst/>
          </a:prstGeom>
          <a:solidFill>
            <a:srgbClr val="EEA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180844"/>
            <a:ext cx="91440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 i="0">
                <a:solidFill>
                  <a:srgbClr val="121C34"/>
                </a:solidFill>
                <a:latin typeface="Aptos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97480"/>
            <a:ext cx="306324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tos"/>
              </a:rPr>
              <a:t>Live events require anchors to manage multiple speakers, timings, transitions &amp; audience engagement simultaneously without real-time assistance.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9884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4ABEF5"/>
                </a:solidFill>
                <a:latin typeface="Aptos"/>
              </a:rPr>
              <a:t>TARGET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00600"/>
            <a:ext cx="3063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C2CDE0"/>
                </a:solidFill>
                <a:latin typeface="Aptos"/>
              </a:rPr>
              <a:t>College event organizers • anchors • speakers
Hackathons • seminars • workshops • competitions • cultural programs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1874519"/>
            <a:ext cx="30632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818888" y="2075688"/>
            <a:ext cx="420624" cy="420624"/>
          </a:xfrm>
          <a:prstGeom prst="ellipse">
            <a:avLst/>
          </a:prstGeom>
          <a:solidFill>
            <a:srgbClr val="DC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18888" y="2071115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7528" y="2075688"/>
            <a:ext cx="208483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C263A"/>
                </a:solidFill>
                <a:latin typeface="Aptos"/>
              </a:rPr>
              <a:t>Manual agenda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528" y="2487168"/>
            <a:ext cx="2039112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7748B"/>
                </a:solidFill>
                <a:latin typeface="Aptos"/>
              </a:rPr>
              <a:t>Errors and timing mismatches can accumulate during a live program.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74519"/>
            <a:ext cx="30632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202168" y="2075688"/>
            <a:ext cx="420624" cy="420624"/>
          </a:xfrm>
          <a:prstGeom prst="ellipse">
            <a:avLst/>
          </a:prstGeom>
          <a:solidFill>
            <a:srgbClr val="6E4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02168" y="2071115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0808" y="2075688"/>
            <a:ext cx="208483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C263A"/>
                </a:solidFill>
                <a:latin typeface="Aptos"/>
              </a:rPr>
              <a:t>No real-time anchor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0808" y="2487168"/>
            <a:ext cx="2039112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7748B"/>
                </a:solidFill>
                <a:latin typeface="Aptos"/>
              </a:rPr>
              <a:t>Anchors need guidance while simultaneously hosting the stage.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17720" y="3657600"/>
            <a:ext cx="30632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818888" y="3858768"/>
            <a:ext cx="420624" cy="420624"/>
          </a:xfrm>
          <a:prstGeom prst="ellipse">
            <a:avLst/>
          </a:prstGeom>
          <a:solidFill>
            <a:srgbClr val="EEA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18888" y="385419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7528" y="3858768"/>
            <a:ext cx="208483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C263A"/>
                </a:solidFill>
                <a:latin typeface="Aptos"/>
              </a:rPr>
              <a:t>Schedule delays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67528" y="4270248"/>
            <a:ext cx="2039112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7748B"/>
                </a:solidFill>
                <a:latin typeface="Aptos"/>
              </a:rPr>
              <a:t>Changes are handled manually and may not reach every role immediately.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01000" y="3657600"/>
            <a:ext cx="30632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202168" y="3858768"/>
            <a:ext cx="420624" cy="420624"/>
          </a:xfrm>
          <a:prstGeom prst="ellipse">
            <a:avLst/>
          </a:prstGeom>
          <a:solidFill>
            <a:srgbClr val="24B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02168" y="385419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50808" y="3858768"/>
            <a:ext cx="208483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C263A"/>
                </a:solidFill>
                <a:latin typeface="Aptos"/>
              </a:rPr>
              <a:t>Messaging consistency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50808" y="4270248"/>
            <a:ext cx="2039112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7748B"/>
                </a:solidFill>
                <a:latin typeface="Aptos"/>
              </a:rPr>
              <a:t>Scripts and transitions are difficult to keep consistent across sessions.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510528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7748B"/>
                </a:solidFill>
                <a:latin typeface="Aptos"/>
              </a:rPr>
              <a:t>BIT N BUILD’26  •  Gujarat Round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35640" y="6510528"/>
            <a:ext cx="685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67748B"/>
                </a:solidFill>
                <a:latin typeface="Aptos"/>
              </a:rP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05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305BDC"/>
                </a:solidFill>
                <a:latin typeface="Aptos"/>
              </a:rPr>
              <a:t>03  / 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C263A"/>
                </a:solidFill>
                <a:latin typeface="Aptos"/>
              </a:rPr>
              <a:t>One control layer for the live event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7748B"/>
                </a:solidFill>
                <a:latin typeface="Aptos"/>
              </a:rPr>
              <a:t>SmartEve connects organizers, anchors and event flow through one real-time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01952"/>
            <a:ext cx="1600200" cy="310896"/>
          </a:xfrm>
          <a:prstGeom prst="roundRect">
            <a:avLst/>
          </a:prstGeom>
          <a:solidFill>
            <a:srgbClr val="305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906524"/>
            <a:ext cx="160020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EVENT ORGANIZERS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50592" y="1901952"/>
            <a:ext cx="1508760" cy="310896"/>
          </a:xfrm>
          <a:prstGeom prst="roundRect">
            <a:avLst/>
          </a:prstGeom>
          <a:solidFill>
            <a:srgbClr val="6E4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50592" y="1906524"/>
            <a:ext cx="150876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ANCHORS / HOSTS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1901952"/>
            <a:ext cx="1417320" cy="310896"/>
          </a:xfrm>
          <a:prstGeom prst="roundRect">
            <a:avLst/>
          </a:prstGeom>
          <a:solidFill>
            <a:srgbClr val="4AB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0" y="1906524"/>
            <a:ext cx="141732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 i="0">
                <a:solidFill>
                  <a:srgbClr val="121C34"/>
                </a:solidFill>
                <a:latin typeface="Aptos"/>
              </a:rPr>
              <a:t>CO-ORGANIZERS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487168"/>
            <a:ext cx="4526280" cy="2423160"/>
          </a:xfrm>
          <a:prstGeom prst="roundRect">
            <a:avLst/>
          </a:prstGeom>
          <a:solidFill>
            <a:srgbClr val="12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7552" y="276148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4ABEF5"/>
                </a:solidFill>
                <a:latin typeface="Aptos"/>
              </a:rPr>
              <a:t>OUR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182112"/>
            <a:ext cx="361188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ptos"/>
              </a:rPr>
              <a:t>AI-powered platform for
real-time script assistance,
agenda management &amp; live
stage coordination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590288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A9BCD9"/>
                </a:solidFill>
                <a:latin typeface="Aptos"/>
              </a:rP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837176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D3DCEC"/>
                </a:solidFill>
                <a:latin typeface="Aptos"/>
              </a:rPr>
              <a:t>Professional execution • smooth transitions • confident hosting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2120" y="2487168"/>
            <a:ext cx="27432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733288" y="2688336"/>
            <a:ext cx="420624" cy="420624"/>
          </a:xfrm>
          <a:prstGeom prst="ellipse">
            <a:avLst/>
          </a:prstGeom>
          <a:solidFill>
            <a:srgbClr val="305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33288" y="268376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2688336"/>
            <a:ext cx="17647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C263A"/>
                </a:solidFill>
                <a:latin typeface="Aptos"/>
              </a:rPr>
              <a:t>AI Script Generation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8" y="3099816"/>
            <a:ext cx="1719071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7748B"/>
                </a:solidFill>
                <a:latin typeface="Aptos"/>
              </a:rPr>
              <a:t>Opening, intros, transitions and closing scripts.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0" y="2487168"/>
            <a:ext cx="27432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705088" y="2688336"/>
            <a:ext cx="420624" cy="420624"/>
          </a:xfrm>
          <a:prstGeom prst="ellipse">
            <a:avLst/>
          </a:prstGeom>
          <a:solidFill>
            <a:srgbClr val="24B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05088" y="268376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3728" y="2688336"/>
            <a:ext cx="17647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C263A"/>
                </a:solidFill>
                <a:latin typeface="Aptos"/>
              </a:rPr>
              <a:t>Live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3728" y="3099816"/>
            <a:ext cx="1719071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7748B"/>
                </a:solidFill>
                <a:latin typeface="Aptos"/>
              </a:rPr>
              <a:t>Real-time activity and stage status.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32120" y="3794760"/>
            <a:ext cx="27432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733288" y="3995928"/>
            <a:ext cx="420624" cy="420624"/>
          </a:xfrm>
          <a:prstGeom prst="ellipse">
            <a:avLst/>
          </a:prstGeom>
          <a:solidFill>
            <a:srgbClr val="6E4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33288" y="399135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1928" y="3995928"/>
            <a:ext cx="17647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C263A"/>
                </a:solidFill>
                <a:latin typeface="Aptos"/>
              </a:rPr>
              <a:t>Anchor Assistance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1928" y="4407408"/>
            <a:ext cx="1719071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7748B"/>
                </a:solidFill>
                <a:latin typeface="Aptos"/>
              </a:rPr>
              <a:t>On-demand AI help while hosting.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03920" y="3794760"/>
            <a:ext cx="27432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705088" y="3995928"/>
            <a:ext cx="420624" cy="420624"/>
          </a:xfrm>
          <a:prstGeom prst="ellipse">
            <a:avLst/>
          </a:prstGeom>
          <a:solidFill>
            <a:srgbClr val="4AB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705088" y="399135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53728" y="3995928"/>
            <a:ext cx="17647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C263A"/>
                </a:solidFill>
                <a:latin typeface="Aptos"/>
              </a:rPr>
              <a:t>Event Management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53728" y="4407408"/>
            <a:ext cx="1719071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7748B"/>
                </a:solidFill>
                <a:latin typeface="Aptos"/>
              </a:rPr>
              <a:t>Agenda, speakers, roles and invitations.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10528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7748B"/>
                </a:solidFill>
                <a:latin typeface="Aptos"/>
              </a:rPr>
              <a:t>BIT N BUILD’26  •  Gujarat Round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35640" y="6510528"/>
            <a:ext cx="685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67748B"/>
                </a:solidFill>
                <a:latin typeface="Aptos"/>
              </a:rP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05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305BDC"/>
                </a:solidFill>
                <a:latin typeface="Aptos"/>
              </a:rPr>
              <a:t>04  / 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C263A"/>
                </a:solidFill>
                <a:latin typeface="Aptos"/>
              </a:rPr>
              <a:t>Technology stack &amp;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7748B"/>
                </a:solidFill>
                <a:latin typeface="Aptos"/>
              </a:rPr>
              <a:t>Only the technologies specified in the project deck are shown.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56231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305BDC"/>
                </a:solidFill>
                <a:latin typeface="Aptos"/>
              </a:rPr>
              <a:t>TECHNOLOGY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67712"/>
            <a:ext cx="114300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67748B"/>
                </a:solidFill>
                <a:latin typeface="Aptos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249424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C263A"/>
                </a:solidFill>
                <a:latin typeface="Aptos"/>
              </a:rPr>
              <a:t>Flutter • Dart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43784"/>
            <a:ext cx="114300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67748B"/>
                </a:solidFill>
                <a:latin typeface="Aptos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825496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C263A"/>
                </a:solidFill>
                <a:latin typeface="Aptos"/>
              </a:rPr>
              <a:t>Express.js • TypeScript • Node.js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19856"/>
            <a:ext cx="114300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67748B"/>
                </a:solidFill>
                <a:latin typeface="Aptos"/>
              </a:rPr>
              <a:t>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401568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C263A"/>
                </a:solidFill>
                <a:latin typeface="Aptos"/>
              </a:rPr>
              <a:t>Claude API / SmartEve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995928"/>
            <a:ext cx="114300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67748B"/>
                </a:solidFill>
                <a:latin typeface="Aptos"/>
              </a:rP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977640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C263A"/>
                </a:solidFill>
                <a:latin typeface="Aptos"/>
              </a:rPr>
              <a:t>PostgreSQL (Neon.tech) • Firebase Realtime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72000"/>
            <a:ext cx="114300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67748B"/>
                </a:solidFill>
                <a:latin typeface="Aptos"/>
              </a:rPr>
              <a:t>AUTH / MEDIA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53712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C263A"/>
                </a:solidFill>
                <a:latin typeface="Aptos"/>
              </a:rPr>
              <a:t>Firebase Authentication • Cloudinary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148072"/>
            <a:ext cx="114300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67748B"/>
                </a:solidFill>
                <a:latin typeface="Aptos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129784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C263A"/>
                </a:solidFill>
                <a:latin typeface="Aptos"/>
              </a:rPr>
              <a:t>Git • VS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1856231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305BDC"/>
                </a:solidFill>
                <a:latin typeface="Aptos"/>
              </a:rPr>
              <a:t>SYSTEM ARCHITECTURE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32120" y="2258568"/>
            <a:ext cx="54406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650992" y="2340864"/>
            <a:ext cx="1325880" cy="338328"/>
          </a:xfrm>
          <a:prstGeom prst="roundRect">
            <a:avLst/>
          </a:prstGeom>
          <a:solidFill>
            <a:srgbClr val="305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50992" y="233172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Aptos"/>
              </a:rPr>
              <a:t>USER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0608" y="2340864"/>
            <a:ext cx="347472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1C263A"/>
                </a:solidFill>
                <a:latin typeface="Aptos"/>
              </a:rPr>
              <a:t>Browser / App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32120" y="2916936"/>
            <a:ext cx="54406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650992" y="2999232"/>
            <a:ext cx="1325880" cy="338328"/>
          </a:xfrm>
          <a:prstGeom prst="roundRect">
            <a:avLst/>
          </a:prstGeom>
          <a:solidFill>
            <a:srgbClr val="4AB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50992" y="2990088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Aptos"/>
              </a:rPr>
              <a:t>FRONTEND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0608" y="2999232"/>
            <a:ext cx="347472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1C263A"/>
                </a:solidFill>
                <a:latin typeface="Aptos"/>
              </a:rPr>
              <a:t>UI + Input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32120" y="3575304"/>
            <a:ext cx="54406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650992" y="3657600"/>
            <a:ext cx="1325880" cy="338328"/>
          </a:xfrm>
          <a:prstGeom prst="roundRect">
            <a:avLst/>
          </a:prstGeom>
          <a:solidFill>
            <a:srgbClr val="6E4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50992" y="3648456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Aptos"/>
              </a:rPr>
              <a:t>BACKEND / 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50608" y="3657600"/>
            <a:ext cx="347472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1C263A"/>
                </a:solidFill>
                <a:latin typeface="Aptos"/>
              </a:rPr>
              <a:t>Requests + Auth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32120" y="4233672"/>
            <a:ext cx="54406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650992" y="4315968"/>
            <a:ext cx="1325880" cy="338328"/>
          </a:xfrm>
          <a:prstGeom prst="roundRect">
            <a:avLst/>
          </a:prstGeom>
          <a:solidFill>
            <a:srgbClr val="24B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650992" y="4306824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Aptos"/>
              </a:rPr>
              <a:t>BUSINESS LOGIC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50608" y="4315968"/>
            <a:ext cx="347472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1C263A"/>
                </a:solidFill>
                <a:latin typeface="Aptos"/>
              </a:rPr>
              <a:t>Core features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532120" y="4892040"/>
            <a:ext cx="54406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5650992" y="4974336"/>
            <a:ext cx="1325880" cy="338328"/>
          </a:xfrm>
          <a:prstGeom prst="roundRect">
            <a:avLst/>
          </a:prstGeom>
          <a:solidFill>
            <a:srgbClr val="EEA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650992" y="4965192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19" b="1" i="0">
                <a:solidFill>
                  <a:srgbClr val="121C34"/>
                </a:solidFill>
                <a:latin typeface="Aptos"/>
              </a:rPr>
              <a:t>DATA + SERVICES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50608" y="4974336"/>
            <a:ext cx="347472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1C263A"/>
                </a:solidFill>
                <a:latin typeface="Aptos"/>
              </a:rPr>
              <a:t>Neon PostgreSQL + Firebase + External APIs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510528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7748B"/>
                </a:solidFill>
                <a:latin typeface="Aptos"/>
              </a:rPr>
              <a:t>BIT N BUILD’26  •  Gujarat Round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35640" y="6510528"/>
            <a:ext cx="685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67748B"/>
                </a:solidFill>
                <a:latin typeface="Aptos"/>
              </a:rP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05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305BDC"/>
                </a:solidFill>
                <a:latin typeface="Aptos"/>
              </a:rPr>
              <a:t>05  / 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C263A"/>
                </a:solidFill>
                <a:latin typeface="Aptos"/>
              </a:rPr>
              <a:t>From problem to working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7748B"/>
                </a:solidFill>
                <a:latin typeface="Aptos"/>
              </a:rPr>
              <a:t>A six-step delivery flow keeps the build focused and demo-ready.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1874519"/>
            <a:ext cx="530352" cy="530352"/>
          </a:xfrm>
          <a:prstGeom prst="ellipse">
            <a:avLst/>
          </a:prstGeom>
          <a:solidFill>
            <a:srgbClr val="305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892807"/>
            <a:ext cx="53035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C263A"/>
                </a:solidFill>
                <a:latin typeface="Aptos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8892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67748B"/>
                </a:solidFill>
                <a:latin typeface="Aptos"/>
              </a:rPr>
              <a:t>Analysis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0160" y="2112264"/>
            <a:ext cx="1170432" cy="36576"/>
          </a:xfrm>
          <a:prstGeom prst="rect">
            <a:avLst/>
          </a:prstGeom>
          <a:solidFill>
            <a:srgbClr val="DE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532887" y="1874519"/>
            <a:ext cx="530352" cy="530352"/>
          </a:xfrm>
          <a:prstGeom prst="ellipse">
            <a:avLst/>
          </a:prstGeom>
          <a:solidFill>
            <a:srgbClr val="305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32887" y="1892807"/>
            <a:ext cx="53035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599" y="251460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C263A"/>
                </a:solidFill>
                <a:latin typeface="Aptos"/>
              </a:rPr>
              <a:t>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599" y="278892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67748B"/>
                </a:solidFill>
                <a:latin typeface="Aptos"/>
              </a:rPr>
              <a:t>Design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54679" y="2112264"/>
            <a:ext cx="1170432" cy="36576"/>
          </a:xfrm>
          <a:prstGeom prst="rect">
            <a:avLst/>
          </a:prstGeom>
          <a:solidFill>
            <a:srgbClr val="DE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407407" y="1874519"/>
            <a:ext cx="530352" cy="530352"/>
          </a:xfrm>
          <a:prstGeom prst="ellipse">
            <a:avLst/>
          </a:prstGeom>
          <a:solidFill>
            <a:srgbClr val="305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07407" y="1892807"/>
            <a:ext cx="53035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51460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C263A"/>
                </a:solidFill>
                <a:latin typeface="Aptos"/>
              </a:rPr>
              <a:t>Develop-ment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199" y="2112264"/>
            <a:ext cx="1170432" cy="36576"/>
          </a:xfrm>
          <a:prstGeom prst="rect">
            <a:avLst/>
          </a:prstGeom>
          <a:solidFill>
            <a:srgbClr val="DE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281927" y="1874519"/>
            <a:ext cx="530352" cy="530352"/>
          </a:xfrm>
          <a:prstGeom prst="ellipse">
            <a:avLst/>
          </a:prstGeom>
          <a:solidFill>
            <a:srgbClr val="305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81927" y="1892807"/>
            <a:ext cx="53035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C263A"/>
                </a:solidFill>
                <a:latin typeface="Aptos"/>
              </a:rPr>
              <a:t>Integra-tion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03719" y="2112264"/>
            <a:ext cx="1170432" cy="36576"/>
          </a:xfrm>
          <a:prstGeom prst="rect">
            <a:avLst/>
          </a:prstGeom>
          <a:solidFill>
            <a:srgbClr val="DE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156448" y="1874519"/>
            <a:ext cx="530352" cy="530352"/>
          </a:xfrm>
          <a:prstGeom prst="ellipse">
            <a:avLst/>
          </a:prstGeom>
          <a:solidFill>
            <a:srgbClr val="305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56448" y="1892807"/>
            <a:ext cx="53035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51460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C263A"/>
                </a:solidFill>
                <a:latin typeface="Aptos"/>
              </a:rPr>
              <a:t>Testing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78240" y="2112264"/>
            <a:ext cx="1170432" cy="36576"/>
          </a:xfrm>
          <a:prstGeom prst="rect">
            <a:avLst/>
          </a:prstGeom>
          <a:solidFill>
            <a:srgbClr val="DE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030968" y="1874519"/>
            <a:ext cx="530352" cy="530352"/>
          </a:xfrm>
          <a:prstGeom prst="ellipse">
            <a:avLst/>
          </a:prstGeom>
          <a:solidFill>
            <a:srgbClr val="24B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30968" y="1892807"/>
            <a:ext cx="53035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251460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C263A"/>
                </a:solidFill>
                <a:latin typeface="Aptos"/>
              </a:rPr>
              <a:t>Working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278892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67748B"/>
                </a:solidFill>
                <a:latin typeface="Aptos"/>
              </a:rPr>
              <a:t>Prototype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3401568"/>
            <a:ext cx="53492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3602736"/>
            <a:ext cx="486460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C263A"/>
                </a:solidFill>
                <a:latin typeface="Aptos"/>
              </a:rPr>
              <a:t>TECHNICAL APPROACH</a:t>
            </a:r>
          </a:p>
        </p:txBody>
      </p:sp>
      <p:sp>
        <p:nvSpPr>
          <p:cNvPr id="35" name="Oval 34"/>
          <p:cNvSpPr/>
          <p:nvPr/>
        </p:nvSpPr>
        <p:spPr>
          <a:xfrm>
            <a:off x="941832" y="4078224"/>
            <a:ext cx="100584" cy="100584"/>
          </a:xfrm>
          <a:prstGeom prst="ellipse">
            <a:avLst/>
          </a:prstGeom>
          <a:solidFill>
            <a:srgbClr val="305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43000" y="3977639"/>
            <a:ext cx="455371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1C263A"/>
                </a:solidFill>
                <a:latin typeface="Aptos"/>
              </a:rPr>
              <a:t>Claude AI API generates scripts from event context.</a:t>
            </a:r>
          </a:p>
        </p:txBody>
      </p:sp>
      <p:sp>
        <p:nvSpPr>
          <p:cNvPr id="37" name="Oval 36"/>
          <p:cNvSpPr/>
          <p:nvPr/>
        </p:nvSpPr>
        <p:spPr>
          <a:xfrm>
            <a:off x="941832" y="4471416"/>
            <a:ext cx="100584" cy="100584"/>
          </a:xfrm>
          <a:prstGeom prst="ellipse">
            <a:avLst/>
          </a:prstGeom>
          <a:solidFill>
            <a:srgbClr val="305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143000" y="4370832"/>
            <a:ext cx="455371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1C263A"/>
                </a:solidFill>
                <a:latin typeface="Aptos"/>
              </a:rPr>
              <a:t>Firebase Realtime DB keeps organizer and anchor state synchronized.</a:t>
            </a:r>
          </a:p>
        </p:txBody>
      </p:sp>
      <p:sp>
        <p:nvSpPr>
          <p:cNvPr id="39" name="Oval 38"/>
          <p:cNvSpPr/>
          <p:nvPr/>
        </p:nvSpPr>
        <p:spPr>
          <a:xfrm>
            <a:off x="941832" y="4864608"/>
            <a:ext cx="100584" cy="100584"/>
          </a:xfrm>
          <a:prstGeom prst="ellipse">
            <a:avLst/>
          </a:prstGeom>
          <a:solidFill>
            <a:srgbClr val="305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43000" y="4764024"/>
            <a:ext cx="455371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1C263A"/>
                </a:solidFill>
                <a:latin typeface="Aptos"/>
              </a:rPr>
              <a:t>Multi-role access control: Admin, Organizer, Anchor.</a:t>
            </a:r>
          </a:p>
        </p:txBody>
      </p:sp>
      <p:sp>
        <p:nvSpPr>
          <p:cNvPr id="41" name="Oval 40"/>
          <p:cNvSpPr/>
          <p:nvPr/>
        </p:nvSpPr>
        <p:spPr>
          <a:xfrm>
            <a:off x="941832" y="5257800"/>
            <a:ext cx="100584" cy="100584"/>
          </a:xfrm>
          <a:prstGeom prst="ellipse">
            <a:avLst/>
          </a:prstGeom>
          <a:solidFill>
            <a:srgbClr val="305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43000" y="5157216"/>
            <a:ext cx="455371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1C263A"/>
                </a:solidFill>
                <a:latin typeface="Aptos"/>
              </a:rPr>
              <a:t>Data flow: Flutter → Express → Neon / Firebase services.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36208" y="3401568"/>
            <a:ext cx="52578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92240" y="3602736"/>
            <a:ext cx="47731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C263A"/>
                </a:solidFill>
                <a:latin typeface="Aptos"/>
              </a:rPr>
              <a:t>INTEGRATION &amp; TESTING</a:t>
            </a:r>
          </a:p>
        </p:txBody>
      </p:sp>
      <p:sp>
        <p:nvSpPr>
          <p:cNvPr id="45" name="Oval 44"/>
          <p:cNvSpPr/>
          <p:nvPr/>
        </p:nvSpPr>
        <p:spPr>
          <a:xfrm>
            <a:off x="6519672" y="4078224"/>
            <a:ext cx="100584" cy="100584"/>
          </a:xfrm>
          <a:prstGeom prst="ellipse">
            <a:avLst/>
          </a:prstGeom>
          <a:solidFill>
            <a:srgbClr val="305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720840" y="3977639"/>
            <a:ext cx="446227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1C263A"/>
                </a:solidFill>
                <a:latin typeface="Aptos"/>
              </a:rPr>
              <a:t>Flutter frontend ↔ Express backend ↔ Neon PostgreSQL + Firebase.</a:t>
            </a:r>
          </a:p>
        </p:txBody>
      </p:sp>
      <p:sp>
        <p:nvSpPr>
          <p:cNvPr id="47" name="Oval 46"/>
          <p:cNvSpPr/>
          <p:nvPr/>
        </p:nvSpPr>
        <p:spPr>
          <a:xfrm>
            <a:off x="6519672" y="4471416"/>
            <a:ext cx="100584" cy="100584"/>
          </a:xfrm>
          <a:prstGeom prst="ellipse">
            <a:avLst/>
          </a:prstGeom>
          <a:solidFill>
            <a:srgbClr val="305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720840" y="4370832"/>
            <a:ext cx="446227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1C263A"/>
                </a:solidFill>
                <a:latin typeface="Aptos"/>
              </a:rPr>
              <a:t>API endpoint tests, UI regression testing and live-event simulation.</a:t>
            </a:r>
          </a:p>
        </p:txBody>
      </p:sp>
      <p:sp>
        <p:nvSpPr>
          <p:cNvPr id="49" name="Oval 48"/>
          <p:cNvSpPr/>
          <p:nvPr/>
        </p:nvSpPr>
        <p:spPr>
          <a:xfrm>
            <a:off x="6519672" y="4864608"/>
            <a:ext cx="100584" cy="100584"/>
          </a:xfrm>
          <a:prstGeom prst="ellipse">
            <a:avLst/>
          </a:prstGeom>
          <a:solidFill>
            <a:srgbClr val="24B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720840" y="4764024"/>
            <a:ext cx="446227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1C263A"/>
                </a:solidFill>
                <a:latin typeface="Aptos"/>
              </a:rPr>
              <a:t>Result: working prototype ready.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6510528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7748B"/>
                </a:solidFill>
                <a:latin typeface="Aptos"/>
              </a:rPr>
              <a:t>BIT N BUILD’26  •  Gujarat Round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835640" y="6510528"/>
            <a:ext cx="685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67748B"/>
                </a:solidFill>
                <a:latin typeface="Aptos"/>
              </a:rP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05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305BDC"/>
                </a:solidFill>
                <a:latin typeface="Aptos"/>
              </a:rPr>
              <a:t>06  /  BUILD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C263A"/>
                </a:solidFill>
                <a:latin typeface="Aptos"/>
              </a:rPr>
              <a:t>Implemented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7748B"/>
                </a:solidFill>
                <a:latin typeface="Aptos"/>
              </a:rPr>
              <a:t>The demo focuses on working modules and the core event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74519"/>
            <a:ext cx="3493008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9536" y="2075688"/>
            <a:ext cx="420624" cy="420624"/>
          </a:xfrm>
          <a:prstGeom prst="ellipse">
            <a:avLst/>
          </a:prstGeom>
          <a:solidFill>
            <a:srgbClr val="305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2071115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75688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C263A"/>
                </a:solidFill>
                <a:latin typeface="Aptos"/>
              </a:rPr>
              <a:t>AI-Generated Scripts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487168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7748B"/>
                </a:solidFill>
                <a:latin typeface="Aptos"/>
              </a:rPr>
              <a:t>Opening, intros, transitions and closing.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874519"/>
            <a:ext cx="3493008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81727" y="2075688"/>
            <a:ext cx="420624" cy="420624"/>
          </a:xfrm>
          <a:prstGeom prst="ellipse">
            <a:avLst/>
          </a:prstGeom>
          <a:solidFill>
            <a:srgbClr val="24B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81727" y="2071115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2075688"/>
            <a:ext cx="251459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C263A"/>
                </a:solidFill>
                <a:latin typeface="Aptos"/>
              </a:rPr>
              <a:t>Live Event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2487168"/>
            <a:ext cx="246887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7748B"/>
                </a:solidFill>
                <a:latin typeface="Aptos"/>
              </a:rPr>
              <a:t>Real-time activity tracking and stage status.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02752" y="1874519"/>
            <a:ext cx="3493008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503920" y="2075688"/>
            <a:ext cx="420624" cy="420624"/>
          </a:xfrm>
          <a:prstGeom prst="ellipse">
            <a:avLst/>
          </a:prstGeom>
          <a:solidFill>
            <a:srgbClr val="6E4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0" y="2071115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075688"/>
            <a:ext cx="251459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C263A"/>
                </a:solidFill>
                <a:latin typeface="Aptos"/>
              </a:rPr>
              <a:t>Speaker &amp; Anchor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487168"/>
            <a:ext cx="246887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7748B"/>
                </a:solidFill>
                <a:latin typeface="Aptos"/>
              </a:rPr>
              <a:t>Invitations and role-based coordination.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611879"/>
            <a:ext cx="3493008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59536" y="3813048"/>
            <a:ext cx="420624" cy="420624"/>
          </a:xfrm>
          <a:prstGeom prst="ellipse">
            <a:avLst/>
          </a:prstGeom>
          <a:solidFill>
            <a:srgbClr val="4AB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9536" y="380847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08176" y="3813048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C263A"/>
                </a:solidFill>
                <a:latin typeface="Aptos"/>
              </a:rPr>
              <a:t>Event Agenda Builder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8176" y="4224528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7748B"/>
                </a:solidFill>
                <a:latin typeface="Aptos"/>
              </a:rPr>
              <a:t>Drag-and-drop session reordering.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59" y="3611879"/>
            <a:ext cx="3493008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681727" y="3813048"/>
            <a:ext cx="420624" cy="420624"/>
          </a:xfrm>
          <a:prstGeom prst="ellipse">
            <a:avLst/>
          </a:prstGeom>
          <a:solidFill>
            <a:srgbClr val="EEA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81727" y="380847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0368" y="3813048"/>
            <a:ext cx="251459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C263A"/>
                </a:solidFill>
                <a:latin typeface="Aptos"/>
              </a:rPr>
              <a:t>SmartEve AI Assistant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30368" y="4224528"/>
            <a:ext cx="246887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7748B"/>
                </a:solidFill>
                <a:latin typeface="Aptos"/>
              </a:rPr>
              <a:t>On-demand help during event execution.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02752" y="3611879"/>
            <a:ext cx="3493008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503920" y="3813048"/>
            <a:ext cx="420624" cy="420624"/>
          </a:xfrm>
          <a:prstGeom prst="ellipse">
            <a:avLst/>
          </a:prstGeom>
          <a:solidFill>
            <a:srgbClr val="DC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03920" y="380847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3813048"/>
            <a:ext cx="251459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C263A"/>
                </a:solidFill>
                <a:latin typeface="Aptos"/>
              </a:rPr>
              <a:t>Delay Reporting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4224528"/>
            <a:ext cx="246887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7748B"/>
                </a:solidFill>
                <a:latin typeface="Aptos"/>
              </a:rPr>
              <a:t>Dynamic schedule updates when timing changes.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468112"/>
            <a:ext cx="10863072" cy="640080"/>
          </a:xfrm>
          <a:prstGeom prst="roundRect">
            <a:avLst/>
          </a:prstGeom>
          <a:solidFill>
            <a:srgbClr val="12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5632704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4ABEF5"/>
                </a:solidFill>
                <a:latin typeface="Aptos"/>
              </a:rPr>
              <a:t>ACHIEVEMENTS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38528" y="5586984"/>
            <a:ext cx="91440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Aptos"/>
              </a:rPr>
              <a:t>3-role system designed &amp; implemented  •  AI script generation tested  •  Live dashboard with real-time sync  •  Database schema &amp; API endpoints ready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510528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7748B"/>
                </a:solidFill>
                <a:latin typeface="Aptos"/>
              </a:rPr>
              <a:t>BIT N BUILD’26  •  Gujarat Round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35640" y="6510528"/>
            <a:ext cx="685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67748B"/>
                </a:solidFill>
                <a:latin typeface="Aptos"/>
              </a:rP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05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05BDC"/>
                </a:solidFill>
                <a:latin typeface="Aptos"/>
              </a:rPr>
              <a:t>07  / 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6400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C263A"/>
                </a:solidFill>
                <a:latin typeface="Aptos"/>
              </a:rPr>
              <a:t>Team &amp; product screens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6510528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7748B"/>
                </a:solidFill>
                <a:latin typeface="Aptos"/>
              </a:rPr>
              <a:t>BIT N BUILD’26  •  Gujarat Round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835640" y="6510528"/>
            <a:ext cx="685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67748B"/>
                </a:solidFill>
                <a:latin typeface="Aptos"/>
              </a:rPr>
              <a:t>07 / 08</a:t>
            </a: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3920FF7A-FCAF-9BAE-3735-B242C4CFE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10" y="1456096"/>
            <a:ext cx="2109902" cy="4688672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8D6BFCAB-7943-3514-B7EE-AA06B37F5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1228" y="1456096"/>
            <a:ext cx="2109903" cy="4688672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8DAE781E-48CA-1582-97BD-077D6A9585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1048" y="1456096"/>
            <a:ext cx="2109902" cy="4688672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77CADD6C-EC20-B44D-4F0B-66375B2884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0867" y="1456096"/>
            <a:ext cx="2109903" cy="4688672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6E5BC688-F073-7A7F-99FD-71BEA5BE6C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0687" y="1456096"/>
            <a:ext cx="2109903" cy="46886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05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305BDC"/>
                </a:solidFill>
                <a:latin typeface="Aptos"/>
              </a:rPr>
              <a:t>08  /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1C263A"/>
                </a:solidFill>
                <a:latin typeface="Aptos"/>
              </a:rPr>
              <a:t>Impact &amp; 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7748B"/>
                </a:solidFill>
                <a:latin typeface="Aptos"/>
              </a:rPr>
              <a:t>Current prototype → next improvements → future integrations.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74519"/>
            <a:ext cx="50749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075688"/>
            <a:ext cx="45902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C263A"/>
                </a:solidFill>
                <a:latin typeface="Aptos"/>
              </a:rPr>
              <a:t>IMPACT</a:t>
            </a:r>
          </a:p>
        </p:txBody>
      </p:sp>
      <p:sp>
        <p:nvSpPr>
          <p:cNvPr id="9" name="Oval 8"/>
          <p:cNvSpPr/>
          <p:nvPr/>
        </p:nvSpPr>
        <p:spPr>
          <a:xfrm>
            <a:off x="941832" y="2569464"/>
            <a:ext cx="100584" cy="100584"/>
          </a:xfrm>
          <a:prstGeom prst="ellipse">
            <a:avLst/>
          </a:prstGeom>
          <a:solidFill>
            <a:srgbClr val="305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2468880"/>
            <a:ext cx="423367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1C263A"/>
                </a:solidFill>
                <a:latin typeface="Aptos"/>
              </a:rPr>
              <a:t>Enables a more structured event-hosting workflow.</a:t>
            </a:r>
          </a:p>
        </p:txBody>
      </p:sp>
      <p:sp>
        <p:nvSpPr>
          <p:cNvPr id="11" name="Oval 10"/>
          <p:cNvSpPr/>
          <p:nvPr/>
        </p:nvSpPr>
        <p:spPr>
          <a:xfrm>
            <a:off x="941832" y="3136392"/>
            <a:ext cx="100584" cy="100584"/>
          </a:xfrm>
          <a:prstGeom prst="ellipse">
            <a:avLst/>
          </a:prstGeom>
          <a:solidFill>
            <a:srgbClr val="305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3035808"/>
            <a:ext cx="423367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1C263A"/>
                </a:solidFill>
                <a:latin typeface="Aptos"/>
              </a:rPr>
              <a:t>Reduces anchor stress with AI-powered assistance.</a:t>
            </a:r>
          </a:p>
        </p:txBody>
      </p:sp>
      <p:sp>
        <p:nvSpPr>
          <p:cNvPr id="13" name="Oval 12"/>
          <p:cNvSpPr/>
          <p:nvPr/>
        </p:nvSpPr>
        <p:spPr>
          <a:xfrm>
            <a:off x="941832" y="3703320"/>
            <a:ext cx="100584" cy="100584"/>
          </a:xfrm>
          <a:prstGeom prst="ellipse">
            <a:avLst/>
          </a:prstGeom>
          <a:solidFill>
            <a:srgbClr val="305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3602736"/>
            <a:ext cx="423367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1C263A"/>
                </a:solidFill>
                <a:latin typeface="Aptos"/>
              </a:rPr>
              <a:t>Supports smoother transitions and timing.</a:t>
            </a:r>
          </a:p>
        </p:txBody>
      </p:sp>
      <p:sp>
        <p:nvSpPr>
          <p:cNvPr id="15" name="Oval 14"/>
          <p:cNvSpPr/>
          <p:nvPr/>
        </p:nvSpPr>
        <p:spPr>
          <a:xfrm>
            <a:off x="941832" y="4270248"/>
            <a:ext cx="100584" cy="100584"/>
          </a:xfrm>
          <a:prstGeom prst="ellipse">
            <a:avLst/>
          </a:prstGeom>
          <a:solidFill>
            <a:srgbClr val="305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" y="4169664"/>
            <a:ext cx="423367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1C263A"/>
                </a:solidFill>
                <a:latin typeface="Aptos"/>
              </a:rPr>
              <a:t>Creates an efficient organizer workflow.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16752" y="1874519"/>
            <a:ext cx="54864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72784" y="2075688"/>
            <a:ext cx="5001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C263A"/>
                </a:solidFill>
                <a:latin typeface="Aptos"/>
              </a:rPr>
              <a:t>FUTURE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4" y="2487168"/>
            <a:ext cx="4956048" cy="2816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7748B"/>
                </a:solidFill>
                <a:latin typeface="Aptos"/>
              </a:rPr>
              <a:t>Clearly separated from the implemented prototype.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2487168"/>
            <a:ext cx="960120" cy="310896"/>
          </a:xfrm>
          <a:prstGeom prst="roundRect">
            <a:avLst/>
          </a:prstGeom>
          <a:solidFill>
            <a:srgbClr val="24B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60" y="2491740"/>
            <a:ext cx="96012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CURRENT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2478024"/>
            <a:ext cx="36118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C263A"/>
                </a:solidFill>
                <a:latin typeface="Aptos"/>
              </a:rPr>
              <a:t>Working prototype • core modules • real-time sync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273552"/>
            <a:ext cx="960120" cy="310896"/>
          </a:xfrm>
          <a:prstGeom prst="roundRect">
            <a:avLst/>
          </a:prstGeom>
          <a:solidFill>
            <a:srgbClr val="305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09360" y="3278124"/>
            <a:ext cx="96012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NEXT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3264408"/>
            <a:ext cx="36118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C263A"/>
                </a:solidFill>
                <a:latin typeface="Aptos"/>
              </a:rPr>
              <a:t>Landscape optimization • analytics • multilingual scripts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059936"/>
            <a:ext cx="960120" cy="310896"/>
          </a:xfrm>
          <a:prstGeom prst="roundRect">
            <a:avLst/>
          </a:prstGeom>
          <a:solidFill>
            <a:srgbClr val="6E4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60" y="4064508"/>
            <a:ext cx="96012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FUTURE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4050792"/>
            <a:ext cx="36118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C263A"/>
                </a:solidFill>
                <a:latin typeface="Aptos"/>
              </a:rPr>
              <a:t>Streaming integrations • performance/certification features • new integrations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510528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7748B"/>
                </a:solidFill>
                <a:latin typeface="Aptos"/>
              </a:rPr>
              <a:t>BIT N BUILD’26  •  Gujarat Round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35640" y="6510528"/>
            <a:ext cx="685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67748B"/>
                </a:solidFill>
                <a:latin typeface="Aptos"/>
              </a:rPr>
              <a:t>08 /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4325EE0-5FAA-A97C-BE7F-16125EB740E4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A706FC-B7D9-A95C-F252-0F7296A26C06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ACF6DA-1EC3-1123-C1A7-ADB09B0F2D7E}"/>
              </a:ext>
            </a:extLst>
          </p:cNvPr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05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165B529-C39A-FFDD-4730-55A11EF8EE23}"/>
              </a:ext>
            </a:extLst>
          </p:cNvPr>
          <p:cNvSpPr txBox="1"/>
          <p:nvPr/>
        </p:nvSpPr>
        <p:spPr>
          <a:xfrm>
            <a:off x="640080" y="6510528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7748B"/>
                </a:solidFill>
                <a:latin typeface="Aptos"/>
              </a:rPr>
              <a:t>BIT N BUILD’26  •  Gujarat Round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F3A02434-BB0A-5EF2-BF78-2EBDEC8439D7}"/>
              </a:ext>
            </a:extLst>
          </p:cNvPr>
          <p:cNvSpPr txBox="1"/>
          <p:nvPr/>
        </p:nvSpPr>
        <p:spPr>
          <a:xfrm>
            <a:off x="655319" y="2967335"/>
            <a:ext cx="1088136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6000" b="1" dirty="0">
                <a:solidFill>
                  <a:srgbClr val="1C263A"/>
                </a:solidFill>
                <a:latin typeface="Aptos"/>
              </a:rPr>
              <a:t>Thank You !!</a:t>
            </a:r>
            <a:endParaRPr sz="6000" b="1" i="0" dirty="0">
              <a:solidFill>
                <a:srgbClr val="1C263A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90194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717</Words>
  <Application>Microsoft Office PowerPoint</Application>
  <PresentationFormat>Widescreen</PresentationFormat>
  <Paragraphs>161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BHAUTIK JOGIYA</cp:lastModifiedBy>
  <cp:revision>2</cp:revision>
  <dcterms:created xsi:type="dcterms:W3CDTF">2013-01-27T09:14:16Z</dcterms:created>
  <dcterms:modified xsi:type="dcterms:W3CDTF">2026-09-20T12:24:04Z</dcterms:modified>
  <cp:category/>
</cp:coreProperties>
</file>